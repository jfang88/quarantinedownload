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55A11"/>
                </a:solidFill>
                <a:latin typeface="Calibri"/>
              </a:rPr>
              <a:t>MANAGEMENT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Managing Supply Chain Risk in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Software &amp; AI Model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6E8"/>
                </a:solidFill>
                <a:latin typeface="Calibri"/>
              </a:rPr>
              <a:t>The problem, the evidence, and the sourcing decision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FB8DA"/>
                </a:solidFill>
                <a:latin typeface="Calibri"/>
              </a:rPr>
              <a:t>Security Architecture  |  Draft for discussion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short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▪ Every package, binary, and AI model we pull from the internet is a potential entry point for compromise.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▪ Standard checks — signatures, version numbers, CVE scans — increasingly miss attacks that hide behind a valid-looking release.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▪ Real-world incidents show detection can take anywhere from a few hours to over a year, and the volume of these incidents rose sharply in the last 12 months.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▪ Closing this gap needs two things working together: stronger checks at intake, and continuous re-checking after approval.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▪ This briefing covers: the intake pathways, how long detection actually takes, and the open-source-vs-commercial sourcing decision in front of 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PROBLEM,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Three very different things come through one door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42900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Open-Source Packages</a:t>
            </a:r>
          </a:p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&amp;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Calibri"/>
              </a:rPr>
              <a:t>Libraries, images, developer 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Checked via component inventory (SBOM) and continuous CVE scanning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42900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Proprietary Binaries</a:t>
            </a:r>
          </a:p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&amp; Vendor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Calibri"/>
              </a:rPr>
              <a:t>Commercial installers, patches, firmware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No inventory is possible — checked via vendor advisories and signature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3040"/>
            <a:ext cx="3429000" cy="324612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63040"/>
            <a:ext cx="342900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AI / ML Model</a:t>
            </a:r>
          </a:p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3864"/>
                </a:solidFill>
                <a:latin typeface="Calibri"/>
              </a:rPr>
              <a:t>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95959"/>
                </a:solidFill>
                <a:latin typeface="Calibri"/>
              </a:rPr>
              <a:t>Model weights, adapters, tokenizer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Neither of the above applies — checked via provenance pinning and safe-format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834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All three funnel through one controlled pipeline: request → quarantine → verify → sandbox test → cooling-off → approve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PROBLEM,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“Clean at intake” is not the same as “safe forever”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62626"/>
                </a:solidFill>
                <a:latin typeface="Calibri"/>
              </a:rPr>
              <a:t>None of the checks above catch a compromise where the name, version, and signature all still look correct: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09728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A trojanised binary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488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Calibri"/>
              </a:rPr>
              <a:t>Correct version string, no CVE published yet — it simply looks like the legitimate release.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109728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A hijacked update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2918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Calibri"/>
              </a:rPr>
              <a:t>The vendor's own delivery infrastructure is compromised — nothing about the source code or tagged release ever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34840"/>
            <a:ext cx="109728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A drifted or edited AI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4348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626"/>
                </a:solidFill>
                <a:latin typeface="Calibri"/>
              </a:rPr>
              <a:t>A model that was clean when reviewed, but the mutable reference has since moved, or the weights were subtly edited to misbehave while still passing normal benchmarks.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778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55A11"/>
                </a:solidFill>
                <a:latin typeface="Calibri"/>
              </a:rPr>
              <a:t>Bottom line: a one-time check at intake is not enough. We need to keep checking after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long before something bad is actually found?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60520"/>
            <a:ext cx="10515600" cy="381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3910" y="4096512"/>
            <a:ext cx="38100" cy="19202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325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Hours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2810" y="4096512"/>
            <a:ext cx="38100" cy="19202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3220" y="4325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1710" y="4096512"/>
            <a:ext cx="38100" cy="19202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4325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90610" y="4096512"/>
            <a:ext cx="38100" cy="19202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1020" y="4325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19510" y="4096512"/>
            <a:ext cx="38100" cy="19202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4325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1+ Year</a:t>
            </a:r>
          </a:p>
        </p:txBody>
      </p:sp>
      <p:sp>
        <p:nvSpPr>
          <p:cNvPr id="16" name="Oval 15"/>
          <p:cNvSpPr/>
          <p:nvPr/>
        </p:nvSpPr>
        <p:spPr>
          <a:xfrm>
            <a:off x="978408" y="4105656"/>
            <a:ext cx="109728" cy="109728"/>
          </a:xfrm>
          <a:prstGeom prst="ellipse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033272" y="3657600"/>
            <a:ext cx="0" cy="448056"/>
          </a:xfrm>
          <a:prstGeom prst="line">
            <a:avLst/>
          </a:prstGeom>
          <a:ln w="15875">
            <a:solidFill>
              <a:srgbClr val="B0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274320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1635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ua-parser-js (npm)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1868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~4 hours — Oct 2021</a:t>
            </a:r>
          </a:p>
        </p:txBody>
      </p:sp>
      <p:sp>
        <p:nvSpPr>
          <p:cNvPr id="21" name="Oval 20"/>
          <p:cNvSpPr/>
          <p:nvPr/>
        </p:nvSpPr>
        <p:spPr>
          <a:xfrm>
            <a:off x="1399032" y="4105656"/>
            <a:ext cx="109728" cy="109728"/>
          </a:xfrm>
          <a:prstGeom prst="ellipse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453896" y="4215384"/>
            <a:ext cx="0" cy="448056"/>
          </a:xfrm>
          <a:prstGeom prst="line">
            <a:avLst/>
          </a:prstGeom>
          <a:ln w="15875">
            <a:solidFill>
              <a:srgbClr val="B0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916" y="475488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" y="482803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chalk / debug (npm)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" y="52303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~2 hrs to detect — Sept 2025</a:t>
            </a:r>
          </a:p>
        </p:txBody>
      </p:sp>
      <p:sp>
        <p:nvSpPr>
          <p:cNvPr id="26" name="Oval 25"/>
          <p:cNvSpPr/>
          <p:nvPr/>
        </p:nvSpPr>
        <p:spPr>
          <a:xfrm>
            <a:off x="3712464" y="4105656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767328" y="3657600"/>
            <a:ext cx="0" cy="448056"/>
          </a:xfrm>
          <a:prstGeom prst="line">
            <a:avLst/>
          </a:prstGeom>
          <a:ln w="1587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84348" y="274320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5788" y="281635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PyTorch torchtriton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5788" y="321868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~5 days — Dec 2022</a:t>
            </a:r>
          </a:p>
        </p:txBody>
      </p:sp>
      <p:sp>
        <p:nvSpPr>
          <p:cNvPr id="31" name="Oval 30"/>
          <p:cNvSpPr/>
          <p:nvPr/>
        </p:nvSpPr>
        <p:spPr>
          <a:xfrm>
            <a:off x="6025896" y="4105656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080760" y="4215384"/>
            <a:ext cx="0" cy="448056"/>
          </a:xfrm>
          <a:prstGeom prst="line">
            <a:avLst/>
          </a:prstGeom>
          <a:ln w="1587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97780" y="475488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9220" y="482803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XZ Utils backdoor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9220" y="52303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~1 month — 2024 (CVE-2024-3094)</a:t>
            </a:r>
          </a:p>
        </p:txBody>
      </p:sp>
      <p:sp>
        <p:nvSpPr>
          <p:cNvPr id="36" name="Oval 35"/>
          <p:cNvSpPr/>
          <p:nvPr/>
        </p:nvSpPr>
        <p:spPr>
          <a:xfrm>
            <a:off x="7287768" y="4105656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7342632" y="3657600"/>
            <a:ext cx="0" cy="448056"/>
          </a:xfrm>
          <a:prstGeom prst="line">
            <a:avLst/>
          </a:prstGeom>
          <a:ln w="1587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59652" y="274320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1092" y="281635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CCleaner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1092" y="321868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~1 month — 2017</a:t>
            </a:r>
          </a:p>
        </p:txBody>
      </p:sp>
      <p:sp>
        <p:nvSpPr>
          <p:cNvPr id="41" name="Oval 40"/>
          <p:cNvSpPr/>
          <p:nvPr/>
        </p:nvSpPr>
        <p:spPr>
          <a:xfrm>
            <a:off x="8970264" y="4105656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025128" y="4215384"/>
            <a:ext cx="0" cy="448056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42148" y="475488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3588" y="482803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Notepad++ “Chrysalis”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3588" y="52303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up to 8 months — 2025/26</a:t>
            </a:r>
          </a:p>
        </p:txBody>
      </p:sp>
      <p:sp>
        <p:nvSpPr>
          <p:cNvPr id="46" name="Oval 45"/>
          <p:cNvSpPr/>
          <p:nvPr/>
        </p:nvSpPr>
        <p:spPr>
          <a:xfrm>
            <a:off x="10968228" y="4105656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1023092" y="3657600"/>
            <a:ext cx="0" cy="448056"/>
          </a:xfrm>
          <a:prstGeom prst="line">
            <a:avLst/>
          </a:prstGeom>
          <a:ln w="158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21240" y="2743200"/>
            <a:ext cx="1965960" cy="8229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281635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Calibri"/>
              </a:rPr>
              <a:t>SolarWinds Orion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321868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~14 months — 2019/20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989320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Detection speed varies by roughly 1,000x — our re-checking needs to match that reality, not run on one fixed schedule.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This is accelerating, not a historical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In the last 12 months alone: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554480" cy="621792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Sept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874519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Calibri"/>
              </a:rPr>
              <a:t>npm “chalk / debug”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74519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18 packages, 2.6B+ weekly downloads, live ~16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87751"/>
            <a:ext cx="1554480" cy="621792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1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Sept–Nov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587751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Calibri"/>
              </a:rPr>
              <a:t>“Shai-Hulud” worm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87751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Self-spreading; 700+ npm packages, 27,000+ malicious repos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00983"/>
            <a:ext cx="1554480" cy="621792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00983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30098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Calibri"/>
              </a:rPr>
              <a:t>Axios (npm)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00983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Nation-state attributed account takeover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14215"/>
            <a:ext cx="1554480" cy="621792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14215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14215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Calibri"/>
              </a:rPr>
              <a:t>LiteLLM (PyPI)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014215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AI-tooling library compromised in the same wave as Trivy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27447"/>
            <a:ext cx="1554480" cy="621792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27447"/>
            <a:ext cx="1554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727447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Calibri"/>
              </a:rPr>
              <a:t>“Megalodon”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727447"/>
            <a:ext cx="6492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5,500+ GitHub repos hit in a single 6-hour window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55A11"/>
                </a:solidFill>
                <a:latin typeface="Calibri"/>
              </a:rPr>
              <a:t>Two US government (CISA) alerts were issued for npm/GitHub supply-chain compromises within this window alone.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Verify at intake, then keep checking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8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8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73656" y="2194560"/>
            <a:ext cx="219456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1400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1400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Quarantine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9888" y="2194560"/>
            <a:ext cx="219456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7632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632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6120" y="2194560"/>
            <a:ext cx="219456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4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864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Sandbox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42352" y="2194560"/>
            <a:ext cx="219456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0096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0096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Cooling-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off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98584" y="2194560"/>
            <a:ext cx="219456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36328" y="1828800"/>
            <a:ext cx="1600200" cy="1005840"/>
          </a:xfrm>
          <a:prstGeom prst="roundRect">
            <a:avLst>
              <a:gd name="adj" fmla="val 18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6328" y="1828800"/>
            <a:ext cx="1600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Promote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736428" y="2834640"/>
            <a:ext cx="0" cy="411480"/>
          </a:xfrm>
          <a:prstGeom prst="line">
            <a:avLst/>
          </a:prstGeom>
          <a:ln w="254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3291840"/>
            <a:ext cx="7772400" cy="141732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429000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55A11"/>
                </a:solidFill>
                <a:latin typeface="Calibri"/>
              </a:rPr>
              <a:t>Continuous post-approval re-checking (Stage 11b)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88620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New artifacts re-checked daily for the first 30 days, weekly through 180 days, then monthly —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cadence weighted to when the evidence shows real detections actually happen.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74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Why this matters: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Catches the fast cases (hours–days) quickly, without burning budget re-checking everything daily forever.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Still catches the slow cases (months–years) before they're forgotten about.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SOURCING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Open-source / free tools vs. commercial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108960" cy="672737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417320"/>
            <a:ext cx="4023360" cy="672737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417320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Open-source / free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4023360" cy="672737"/>
          </a:xfrm>
          <a:prstGeom prst="rect">
            <a:avLst/>
          </a:prstGeom>
          <a:solidFill>
            <a:srgbClr val="1F386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417320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Commercial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90057"/>
            <a:ext cx="31089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90057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Capability breadth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090057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090057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Narrower — assembled from several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090057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090057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Broad — integrated out of the 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62794"/>
            <a:ext cx="31089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2794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License / subscription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762794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2762794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762794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762794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Recurring, scales with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35531"/>
            <a:ext cx="31089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35531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Engineering effort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435531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3435531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High — build &amp; maintain the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3435531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435531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Low — vendor maintains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08268"/>
            <a:ext cx="31089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08268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Time to first 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4108268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108268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Slower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4108268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108268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Faster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781005"/>
            <a:ext cx="31089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81005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Terms-of-service / scale limits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4781005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4781005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Present — e.g. free-tier API rate limits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4781005"/>
            <a:ext cx="4023360" cy="67273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781005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Managed by contract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453742"/>
            <a:ext cx="31089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53742"/>
            <a:ext cx="28346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Support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5453742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5453742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Community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5453742"/>
            <a:ext cx="4023360" cy="672737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5453742"/>
            <a:ext cx="3749040" cy="672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Vendor SLA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THE DECISION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Three ways to build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8229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18488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95959"/>
                </a:solidFill>
                <a:latin typeface="Calibri"/>
              </a:rPr>
              <a:t>Option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84248"/>
            <a:ext cx="31181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Open-Source /</a:t>
            </a:r>
          </a:p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Free-First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2608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Lowest direct/license cost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Highest engineering effort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Ongoing maintenance burden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Watch free-tier ToS &amp; scale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20440" cy="82296"/>
          </a:xfrm>
          <a:prstGeom prst="rect">
            <a:avLst/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18488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5F9E"/>
                </a:solidFill>
                <a:latin typeface="Calibri"/>
              </a:rPr>
              <a:t>Option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984248"/>
            <a:ext cx="31181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Commercial</a:t>
            </a:r>
          </a:p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92608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Broadest capability, fastest start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Highest recurring cost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Least engineering effort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Vendor lock-in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520440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18488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5A11"/>
                </a:solidFill>
                <a:latin typeface="Calibri"/>
              </a:rPr>
              <a:t>RECOMMENDED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5A11"/>
                </a:solidFill>
                <a:latin typeface="Calibri"/>
              </a:rPr>
              <a:t>DIRECTION TO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84248"/>
            <a:ext cx="31181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Hybrid:</a:t>
            </a:r>
          </a:p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Lightweight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926080"/>
            <a:ext cx="31181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Open-source backbone for most of the pipeline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Commercial tooling only for the hardest gaps (deep sandboxing, threat intel at scale)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Balances cost and effort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>
                <a:solidFill>
                  <a:srgbClr val="262626"/>
                </a:solidFill>
                <a:latin typeface="Calibri"/>
              </a:rPr>
              <a:t>▪ Needs a specific scope decision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Decisions requested from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▪ Confirm risk appetite — how much coverage gap vs. how much spend is acceptable.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▪ Choose a sourcing direction — open-source-first, commercial, or hybrid — to unlock the detailed architecture decisions waiting on it.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▪ Nominate reviewers for the underlying architecture decision records (9 currently open).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8056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Detailed option-by-option trade-offs, cost modelling, and the full evidence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6E8"/>
                </a:solidFill>
                <a:latin typeface="Calibri"/>
              </a:rPr>
              <a:t>are documented in the supporting architecture and build-vs-buy evaluation — available on request.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8DA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Selected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CISA — Widespread Supply Chain Compromise Impacting npm Ecosystem (Sept 2025); Supply Chain Compromises Impact GitHub Repositories (May 2026)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Tenable / Picus Security — Notepad++ “Chrysalis” supply chain compromise (CVE-2025-15556)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PyTorch — Compromised PyTorch-nightly dependency chain (Dec 2022); Zscaler ThreatLabz — Axios / LiteLLM attacks (Mar 2026)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JFrog — Malicious Hugging Face ML models with silent backdoor (Feb 2024); Mithril Security — PoisonGPT (2023)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Sonatype / The Hacker News — Polyfill.io supply chain attack (2024); Volexity / Mandiant — 3CX supply chain compromise (2023)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>
                <a:solidFill>
                  <a:srgbClr val="262626"/>
                </a:solidFill>
                <a:latin typeface="Calibri"/>
              </a:rPr>
              <a:t>▪ Full citation list with per-claim verification status: package-intake-architecture.md §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Enterprise Software &amp; AI Model Intake — Supply Chain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